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14630400" cy="8229600"/>
  <p:notesSz cx="8229600" cy="14630400"/>
  <p:embeddedFontLst>
    <p:embeddedFont>
      <p:font typeface="Calisto MT" panose="02040603050505030304" pitchFamily="18" charset="0"/>
      <p:regular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Merriweather" panose="00000500000000000000" pitchFamily="2" charset="0"/>
      <p:regular r:id="rId14"/>
    </p:embeddedFont>
    <p:embeddedFont>
      <p:font typeface="Wingdings 2" panose="05020102010507070707" pitchFamily="18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68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guys, today I will talk about Ok Http. It is a Http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</a:t>
            </a:r>
            <a:r>
              <a:rPr lang="en-US" dirty="0" err="1"/>
              <a:t>OkHttpClient</a:t>
            </a:r>
            <a:r>
              <a:rPr lang="en-US" dirty="0"/>
              <a:t> or use a singleton pattern to instantiate, because each client holds own connection pool and thread pools. Reusing connections and threads reduces latency and saves 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832" y="2123449"/>
            <a:ext cx="11328041" cy="2194561"/>
          </a:xfrm>
        </p:spPr>
        <p:txBody>
          <a:bodyPr anchor="b">
            <a:normAutofit/>
          </a:bodyPr>
          <a:lstStyle>
            <a:lvl1pPr algn="ctr">
              <a:defRPr sz="6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4832" y="4318008"/>
            <a:ext cx="11328041" cy="125984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6095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716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2113281"/>
            <a:ext cx="11508660" cy="2194576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4307855"/>
            <a:ext cx="11508660" cy="1808465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704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555" y="2078939"/>
            <a:ext cx="6072596" cy="487050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3471" y="2078940"/>
            <a:ext cx="6077598" cy="487050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3766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54" y="2081408"/>
            <a:ext cx="6106886" cy="4978523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82" y="2081408"/>
            <a:ext cx="6106886" cy="49785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46" y="2202305"/>
            <a:ext cx="5851613" cy="653861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46" y="2856165"/>
            <a:ext cx="5851613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53960" y="2202305"/>
            <a:ext cx="5874396" cy="653860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53960" y="2856165"/>
            <a:ext cx="5874396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890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665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171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520"/>
            <a:ext cx="4448267" cy="2186302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6760" y="731520"/>
            <a:ext cx="7694309" cy="621792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17822"/>
            <a:ext cx="4448267" cy="4031617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939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398" y="731520"/>
            <a:ext cx="4300999" cy="62457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907"/>
            <a:ext cx="7121939" cy="2195206"/>
          </a:xfrm>
        </p:spPr>
        <p:txBody>
          <a:bodyPr anchor="b">
            <a:noAutofit/>
          </a:bodyPr>
          <a:lstStyle>
            <a:lvl1pPr algn="ctr">
              <a:defRPr sz="384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31062" y="916443"/>
            <a:ext cx="3930901" cy="589538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27113"/>
            <a:ext cx="7121939" cy="4051361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466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" y="657369"/>
            <a:ext cx="12170159" cy="45801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67" y="5478306"/>
            <a:ext cx="12426391" cy="652166"/>
          </a:xfrm>
        </p:spPr>
        <p:txBody>
          <a:bodyPr anchor="b">
            <a:normAutofit/>
          </a:bodyPr>
          <a:lstStyle>
            <a:lvl1pPr algn="ctr"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03219" y="834012"/>
            <a:ext cx="11814415" cy="4230805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548640" indent="0">
              <a:buNone/>
              <a:defRPr sz="2400"/>
            </a:lvl2pPr>
            <a:lvl3pPr marL="1097280" indent="0">
              <a:buNone/>
              <a:defRPr sz="24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4" y="6130474"/>
            <a:ext cx="12424514" cy="818966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654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4" y="730124"/>
            <a:ext cx="12424514" cy="4241213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54216"/>
            <a:ext cx="12424516" cy="1802191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323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9"/>
            <a:ext cx="10502759" cy="639299"/>
          </a:xfrm>
        </p:spPr>
        <p:txBody>
          <a:bodyPr anchor="t">
            <a:normAutofit/>
          </a:bodyPr>
          <a:lstStyle>
            <a:lvl1pPr marL="0" indent="0" algn="r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65224"/>
            <a:ext cx="12424516" cy="17873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88720" y="106175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5659" y="351391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66143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2552331"/>
            <a:ext cx="12424516" cy="301420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41" y="5580667"/>
            <a:ext cx="12422639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984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54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6053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722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59886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59886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5937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5" y="2181858"/>
            <a:ext cx="4007966" cy="221742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560" y="2181858"/>
            <a:ext cx="4007966" cy="221742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261" y="2181858"/>
            <a:ext cx="4007966" cy="221742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53" y="731520"/>
            <a:ext cx="12424516" cy="11645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54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221722" y="2326702"/>
            <a:ext cx="3710842" cy="1923545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54" y="5376442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4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454891" y="2326913"/>
            <a:ext cx="3710842" cy="1929797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722" y="5376441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003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90837" y="2321318"/>
            <a:ext cx="3710842" cy="192875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59886" y="5376439"/>
            <a:ext cx="3961181" cy="157300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0303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4542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9682" y="731520"/>
            <a:ext cx="2741384" cy="621792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6555" y="731520"/>
            <a:ext cx="9500246" cy="621792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848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940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075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494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817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215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91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078940"/>
            <a:ext cx="12424514" cy="48705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3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55" y="7059931"/>
            <a:ext cx="800743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042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601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8" r:id="rId22"/>
    <p:sldLayoutId id="2147483839" r:id="rId23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4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864000" indent="-3240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216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231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9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663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20088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4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882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3346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727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346609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OkHttp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488061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 overview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53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238262"/>
            <a:ext cx="5307211" cy="663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OkHttp?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2950" y="4220051"/>
            <a:ext cx="1314450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OkHttp is open-source HTTP client designed for modern applications.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2950" y="4798338"/>
            <a:ext cx="477560" cy="47756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84" y="4838045"/>
            <a:ext cx="318373" cy="3980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2798" y="4871204"/>
            <a:ext cx="2735699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Efficient HTTP Client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432798" y="5330190"/>
            <a:ext cx="574976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 open-source library for efficient network operations.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47836" y="4798338"/>
            <a:ext cx="477560" cy="47756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369" y="4838045"/>
            <a:ext cx="318373" cy="3980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7684" y="4871204"/>
            <a:ext cx="2653546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By Square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8137684" y="5330190"/>
            <a:ext cx="5749766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Developed and maintained by Square.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42950" y="6433899"/>
            <a:ext cx="477560" cy="47756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484" y="6473607"/>
            <a:ext cx="318373" cy="3980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2798" y="6506766"/>
            <a:ext cx="2653546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Android &amp; Java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1432798" y="6965752"/>
            <a:ext cx="5749766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Optimized for seamless integration into both Android and Java applications.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7447836" y="6433899"/>
            <a:ext cx="477560" cy="47756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369" y="6473607"/>
            <a:ext cx="318373" cy="3980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37684" y="6506766"/>
            <a:ext cx="2653546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Requirements</a:t>
            </a:r>
            <a:endParaRPr lang="en-US" sz="2050" dirty="0"/>
          </a:p>
        </p:txBody>
      </p:sp>
      <p:sp>
        <p:nvSpPr>
          <p:cNvPr id="20" name="Text 13"/>
          <p:cNvSpPr/>
          <p:nvPr/>
        </p:nvSpPr>
        <p:spPr>
          <a:xfrm>
            <a:off x="8137684" y="6965752"/>
            <a:ext cx="5749766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</a:rPr>
              <a:t>Minimal </a:t>
            </a:r>
            <a:r>
              <a:rPr lang="en-US" sz="1650">
                <a:solidFill>
                  <a:srgbClr val="E2E6E9"/>
                </a:solidFill>
                <a:latin typeface="Merriweather" pitchFamily="34" charset="0"/>
              </a:rPr>
              <a:t>Android 5.0 (Api level 21) </a:t>
            </a:r>
            <a:r>
              <a:rPr lang="en-US" sz="1650" dirty="0">
                <a:solidFill>
                  <a:srgbClr val="E2E6E9"/>
                </a:solidFill>
                <a:latin typeface="Merriweather" pitchFamily="34" charset="0"/>
              </a:rPr>
              <a:t>or Java 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75692"/>
            <a:ext cx="719875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OkHttp is Essential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040612"/>
            <a:ext cx="129028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 the key advantages that make OkHttp the preferred choice.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713077"/>
            <a:ext cx="740450" cy="740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12739" y="2921318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Efficiency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912739" y="3454837"/>
            <a:ext cx="304633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Connection pooling to minimize latency and reuse resources.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563" y="2713077"/>
            <a:ext cx="740450" cy="740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6504" y="2921318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16504" y="3454837"/>
            <a:ext cx="304633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HTTP/2 and for concurrent requests over single connections.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328" y="2713077"/>
            <a:ext cx="740450" cy="740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20268" y="2921318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Robustness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0720268" y="3454837"/>
            <a:ext cx="304633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Automatically handles network issues, redirects, and timeouts.</a:t>
            </a:r>
            <a:endParaRPr lang="en-US" sz="1900" dirty="0"/>
          </a:p>
        </p:txBody>
      </p:sp>
      <p:pic>
        <p:nvPicPr>
          <p:cNvPr id="13" name="Image 3" descr="Sala de aula com preenchimento sólido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3798" y="5527715"/>
            <a:ext cx="740450" cy="740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12739" y="5735955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Ease of Use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912739" y="6269474"/>
            <a:ext cx="304633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Features a clear and intuitive API for quick integration.</a:t>
            </a:r>
            <a:endParaRPr lang="en-US" sz="1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563" y="5527715"/>
            <a:ext cx="740450" cy="740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16504" y="5735955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Caching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6316504" y="6269474"/>
            <a:ext cx="304633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Stores responses to save data and accelerate load times.</a:t>
            </a:r>
            <a:endParaRPr lang="en-US" sz="1900" dirty="0"/>
          </a:p>
        </p:txBody>
      </p:sp>
      <p:pic>
        <p:nvPicPr>
          <p:cNvPr id="19" name="Image 2" descr="Internet com preenchimento sólido">
            <a:extLst>
              <a:ext uri="{FF2B5EF4-FFF2-40B4-BE49-F238E27FC236}">
                <a16:creationId xmlns:a16="http://schemas.microsoft.com/office/drawing/2014/main" id="{D4CFA4AD-8959-D525-DA55-43B25164C2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823728" y="5529024"/>
            <a:ext cx="740450" cy="740450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0800C4D3-A0BF-B402-4D2B-77936ED01C72}"/>
              </a:ext>
            </a:extLst>
          </p:cNvPr>
          <p:cNvSpPr/>
          <p:nvPr/>
        </p:nvSpPr>
        <p:spPr>
          <a:xfrm>
            <a:off x="10720268" y="5705178"/>
            <a:ext cx="304633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</a:rPr>
              <a:t>Transparency</a:t>
            </a:r>
            <a:endParaRPr lang="en-US" sz="2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360082E-2116-6C9D-167C-F91C5F6EE2E8}"/>
              </a:ext>
            </a:extLst>
          </p:cNvPr>
          <p:cNvSpPr/>
          <p:nvPr/>
        </p:nvSpPr>
        <p:spPr>
          <a:xfrm>
            <a:off x="10720268" y="6126200"/>
            <a:ext cx="304633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Transparent GZIP shrinks download sizes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4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006" y="637937"/>
            <a:ext cx="6154579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Getting Started: Setup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812006" y="1710928"/>
            <a:ext cx="7519988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Integrating OkHttp into your project is straightforward.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006" y="2575084"/>
            <a:ext cx="2900005" cy="36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Add Dependency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00457" y="3145145"/>
            <a:ext cx="3881199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Include the OkHttp library in your </a:t>
            </a:r>
            <a:r>
              <a:rPr lang="en-US" sz="18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</a:t>
            </a: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file: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66849" y="2575084"/>
            <a:ext cx="2900005" cy="36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Instantiate Client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266849" y="3169563"/>
            <a:ext cx="3072646" cy="112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an </a:t>
            </a:r>
            <a:r>
              <a:rPr lang="en-US" sz="18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instance to manage your requests: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266849" y="4551878"/>
            <a:ext cx="3072646" cy="1461611"/>
          </a:xfrm>
          <a:prstGeom prst="roundRect">
            <a:avLst>
              <a:gd name="adj" fmla="val 6667"/>
            </a:avLst>
          </a:prstGeom>
          <a:solidFill>
            <a:srgbClr val="162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5255300" y="4551878"/>
            <a:ext cx="3095744" cy="1461611"/>
          </a:xfrm>
          <a:prstGeom prst="roundRect">
            <a:avLst>
              <a:gd name="adj" fmla="val 2381"/>
            </a:avLst>
          </a:prstGeom>
          <a:solidFill>
            <a:srgbClr val="162227"/>
          </a:solidFill>
          <a:ln/>
        </p:spPr>
      </p:sp>
      <p:sp>
        <p:nvSpPr>
          <p:cNvPr id="15" name="Text 12"/>
          <p:cNvSpPr/>
          <p:nvPr/>
        </p:nvSpPr>
        <p:spPr>
          <a:xfrm>
            <a:off x="5487233" y="4725829"/>
            <a:ext cx="2631877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 err="1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r>
              <a:rPr lang="en-US" sz="18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 = new </a:t>
            </a:r>
            <a:r>
              <a:rPr lang="en-US" sz="1800" dirty="0" err="1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</a:t>
            </a:r>
            <a:r>
              <a:rPr lang="en-US" sz="18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66849" y="6274475"/>
            <a:ext cx="3072646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client will handle connection pools and defaults.</a:t>
            </a:r>
            <a:endParaRPr lang="en-US" sz="1800" dirty="0"/>
          </a:p>
        </p:txBody>
      </p:sp>
      <p:pic>
        <p:nvPicPr>
          <p:cNvPr id="18" name="Imagem 17" descr="Texto&#10;&#10;O conteúdo gerado por IA pode estar incorreto.">
            <a:extLst>
              <a:ext uri="{FF2B5EF4-FFF2-40B4-BE49-F238E27FC236}">
                <a16:creationId xmlns:a16="http://schemas.microsoft.com/office/drawing/2014/main" id="{E9F2AF59-675A-5DA3-4F3E-EB2EEF0DB2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05" r="8292" b="16607"/>
          <a:stretch/>
        </p:blipFill>
        <p:spPr>
          <a:xfrm>
            <a:off x="335223" y="3995022"/>
            <a:ext cx="4639030" cy="1113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3966" y="659249"/>
            <a:ext cx="7604403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Beyond Basics: Advanced OkHttp Features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013966" y="1356360"/>
            <a:ext cx="808886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Unlock more control and efficiency with </a:t>
            </a:r>
            <a:r>
              <a:rPr lang="en-US" sz="115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OkHttp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13966" y="1993106"/>
            <a:ext cx="8088868" cy="1109782"/>
          </a:xfrm>
          <a:prstGeom prst="roundRect">
            <a:avLst>
              <a:gd name="adj" fmla="val 6592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13966" y="1977866"/>
            <a:ext cx="8088868" cy="60960"/>
          </a:xfrm>
          <a:prstGeom prst="roundRect">
            <a:avLst>
              <a:gd name="adj" fmla="val 103867"/>
            </a:avLst>
          </a:prstGeom>
          <a:solidFill>
            <a:srgbClr val="609DFF"/>
          </a:solidFill>
          <a:ln/>
        </p:spPr>
      </p:sp>
      <p:sp>
        <p:nvSpPr>
          <p:cNvPr id="7" name="Shape 4"/>
          <p:cNvSpPr/>
          <p:nvPr/>
        </p:nvSpPr>
        <p:spPr>
          <a:xfrm>
            <a:off x="9832300" y="1767007"/>
            <a:ext cx="452199" cy="452199"/>
          </a:xfrm>
          <a:prstGeom prst="roundRect">
            <a:avLst>
              <a:gd name="adj" fmla="val 202212"/>
            </a:avLst>
          </a:prstGeom>
          <a:solidFill>
            <a:srgbClr val="609D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7913" y="1879997"/>
            <a:ext cx="180856" cy="226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9939" y="2369939"/>
            <a:ext cx="188440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Caching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79939" y="2695813"/>
            <a:ext cx="77569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Store responses on disk to reduce network traffic and improve speed.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13966" y="3479721"/>
            <a:ext cx="8088868" cy="1109782"/>
          </a:xfrm>
          <a:prstGeom prst="roundRect">
            <a:avLst>
              <a:gd name="adj" fmla="val 6592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013966" y="3464481"/>
            <a:ext cx="8088868" cy="60960"/>
          </a:xfrm>
          <a:prstGeom prst="roundRect">
            <a:avLst>
              <a:gd name="adj" fmla="val 103867"/>
            </a:avLst>
          </a:prstGeom>
          <a:solidFill>
            <a:srgbClr val="609DFF"/>
          </a:solidFill>
          <a:ln/>
        </p:spPr>
      </p:sp>
      <p:sp>
        <p:nvSpPr>
          <p:cNvPr id="13" name="Shape 9"/>
          <p:cNvSpPr/>
          <p:nvPr/>
        </p:nvSpPr>
        <p:spPr>
          <a:xfrm>
            <a:off x="9832300" y="3253621"/>
            <a:ext cx="452199" cy="452199"/>
          </a:xfrm>
          <a:prstGeom prst="roundRect">
            <a:avLst>
              <a:gd name="adj" fmla="val 202212"/>
            </a:avLst>
          </a:prstGeom>
          <a:solidFill>
            <a:srgbClr val="609D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7913" y="3366611"/>
            <a:ext cx="180856" cy="2261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9939" y="3856553"/>
            <a:ext cx="188440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Interceptors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179939" y="4182428"/>
            <a:ext cx="77569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Modify requests and responses for logging, authentication, or custom headers.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13966" y="4966335"/>
            <a:ext cx="8088868" cy="1109782"/>
          </a:xfrm>
          <a:prstGeom prst="roundRect">
            <a:avLst>
              <a:gd name="adj" fmla="val 6592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013966" y="4951095"/>
            <a:ext cx="8088868" cy="60960"/>
          </a:xfrm>
          <a:prstGeom prst="roundRect">
            <a:avLst>
              <a:gd name="adj" fmla="val 103867"/>
            </a:avLst>
          </a:prstGeom>
          <a:solidFill>
            <a:srgbClr val="609DFF"/>
          </a:solidFill>
          <a:ln/>
        </p:spPr>
      </p:sp>
      <p:sp>
        <p:nvSpPr>
          <p:cNvPr id="19" name="Shape 14"/>
          <p:cNvSpPr/>
          <p:nvPr/>
        </p:nvSpPr>
        <p:spPr>
          <a:xfrm>
            <a:off x="9832300" y="4740235"/>
            <a:ext cx="452199" cy="452199"/>
          </a:xfrm>
          <a:prstGeom prst="roundRect">
            <a:avLst>
              <a:gd name="adj" fmla="val 202212"/>
            </a:avLst>
          </a:prstGeom>
          <a:solidFill>
            <a:srgbClr val="609D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7913" y="4853226"/>
            <a:ext cx="180856" cy="2261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79939" y="5343168"/>
            <a:ext cx="188440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Timeouts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179939" y="5669042"/>
            <a:ext cx="77569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Configure connection, read, and write timeouts to prevent hangs.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13966" y="6452949"/>
            <a:ext cx="8088868" cy="1117402"/>
          </a:xfrm>
          <a:prstGeom prst="roundRect">
            <a:avLst>
              <a:gd name="adj" fmla="val 6547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6013966" y="6437709"/>
            <a:ext cx="8088868" cy="60960"/>
          </a:xfrm>
          <a:prstGeom prst="roundRect">
            <a:avLst>
              <a:gd name="adj" fmla="val 103867"/>
            </a:avLst>
          </a:prstGeom>
          <a:solidFill>
            <a:srgbClr val="609DFF"/>
          </a:solidFill>
          <a:ln/>
        </p:spPr>
      </p:sp>
      <p:sp>
        <p:nvSpPr>
          <p:cNvPr id="25" name="Shape 19"/>
          <p:cNvSpPr/>
          <p:nvPr/>
        </p:nvSpPr>
        <p:spPr>
          <a:xfrm>
            <a:off x="9832300" y="6226850"/>
            <a:ext cx="452199" cy="452199"/>
          </a:xfrm>
          <a:prstGeom prst="roundRect">
            <a:avLst>
              <a:gd name="adj" fmla="val 202212"/>
            </a:avLst>
          </a:prstGeom>
          <a:solidFill>
            <a:srgbClr val="609D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7913" y="6339840"/>
            <a:ext cx="180856" cy="2261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79939" y="6829782"/>
            <a:ext cx="188440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Asynchronous Calls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179939" y="7155656"/>
            <a:ext cx="7756922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Execute requests in the background using </a:t>
            </a:r>
            <a:r>
              <a:rPr lang="en-US" sz="11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enqueue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non-blocking UI.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4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36" y="674965"/>
            <a:ext cx="7425928" cy="1534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Conclusion: The Gold Standard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345436" y="2577108"/>
            <a:ext cx="7425928" cy="785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OkHttp is indispensable for modern Android and Java development.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45436" y="3638788"/>
            <a:ext cx="3590211" cy="2230398"/>
          </a:xfrm>
          <a:prstGeom prst="roundRect">
            <a:avLst>
              <a:gd name="adj" fmla="val 26413"/>
            </a:avLst>
          </a:prstGeom>
          <a:solidFill>
            <a:srgbClr val="8061FF"/>
          </a:solidFill>
          <a:ln w="15240">
            <a:solidFill>
              <a:srgbClr val="997A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06064" y="3899416"/>
            <a:ext cx="3068241" cy="3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Industry Standard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606064" y="4430197"/>
            <a:ext cx="3068955" cy="117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go-to choice for HTTP requests in Android.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034" y="3638788"/>
            <a:ext cx="3590330" cy="2230398"/>
          </a:xfrm>
          <a:prstGeom prst="roundRect">
            <a:avLst>
              <a:gd name="adj" fmla="val 26413"/>
            </a:avLst>
          </a:prstGeom>
          <a:solidFill>
            <a:srgbClr val="8061FF"/>
          </a:solidFill>
          <a:ln w="15240">
            <a:solidFill>
              <a:srgbClr val="997A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41662" y="3899416"/>
            <a:ext cx="3068241" cy="3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 &amp; Robust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441662" y="4430197"/>
            <a:ext cx="3069074" cy="117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Ensures reliable and high-performance networking.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45436" y="6114574"/>
            <a:ext cx="7425928" cy="1444823"/>
          </a:xfrm>
          <a:prstGeom prst="roundRect">
            <a:avLst>
              <a:gd name="adj" fmla="val 40775"/>
            </a:avLst>
          </a:prstGeom>
          <a:solidFill>
            <a:srgbClr val="8061FF"/>
          </a:solidFill>
          <a:ln w="15240">
            <a:solidFill>
              <a:srgbClr val="997A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6064" y="6375202"/>
            <a:ext cx="3068241" cy="3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Easy to Use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06064" y="6905982"/>
            <a:ext cx="6904673" cy="392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Simplifies complex network operations with a clean API.</a:t>
            </a:r>
            <a:endParaRPr lang="en-US" sz="1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703</TotalTime>
  <Words>360</Words>
  <Application>Microsoft Office PowerPoint</Application>
  <PresentationFormat>Personalizar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Consolas</vt:lpstr>
      <vt:lpstr>Calisto MT</vt:lpstr>
      <vt:lpstr>Merriweather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</cp:lastModifiedBy>
  <cp:revision>7</cp:revision>
  <dcterms:created xsi:type="dcterms:W3CDTF">2025-09-07T02:01:51Z</dcterms:created>
  <dcterms:modified xsi:type="dcterms:W3CDTF">2025-09-08T00:17:01Z</dcterms:modified>
</cp:coreProperties>
</file>